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3.xml" ContentType="application/vnd.openxmlformats-officedocument.customXmlProperties+xml"/>
  <Override PartName="/customXml/itemProps22.xml" ContentType="application/vnd.openxmlformats-officedocument.customXmlProperties+xml"/>
  <Override PartName="/customXml/itemProps31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1.xml" ContentType="application/vnd.openxmlformats-officedocument.presentationml.handoutMaster+xml"/>
  <Override PartName="/ppt/notesMasters/notesMaster1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2.xml" ContentType="application/vnd.openxmlformats-officedocument.theme+xml"/>
  <Override PartName="/ppt/theme/theme23.xml" ContentType="application/vnd.openxmlformats-officedocument.theme+xml"/>
  <Override PartName="/ppt/theme/theme3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20" userDrawn="1">
          <p15:clr>
            <a:srgbClr val="A4A3A4"/>
          </p15:clr>
        </p15:guide>
        <p15:guide id="3" pos="7176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pos="504" userDrawn="1">
          <p15:clr>
            <a:srgbClr val="A4A3A4"/>
          </p15:clr>
        </p15:guide>
        <p15:guide id="7" orient="horz" pos="1200" userDrawn="1">
          <p15:clr>
            <a:srgbClr val="A4A3A4"/>
          </p15:clr>
        </p15:guide>
        <p15:guide id="8" pos="2352" userDrawn="1">
          <p15:clr>
            <a:srgbClr val="A4A3A4"/>
          </p15:clr>
        </p15:guide>
        <p15:guide id="9" pos="39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7D5E00"/>
    <a:srgbClr val="A84A02"/>
    <a:srgbClr val="C45800"/>
    <a:srgbClr val="F55D00"/>
    <a:srgbClr val="0C1F49"/>
    <a:srgbClr val="21B062"/>
    <a:srgbClr val="696969"/>
    <a:srgbClr val="46696C"/>
    <a:srgbClr val="834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58" y="149"/>
      </p:cViewPr>
      <p:guideLst>
        <p:guide pos="720"/>
        <p:guide pos="7176"/>
        <p:guide orient="horz" pos="2160"/>
        <p:guide pos="504"/>
        <p:guide orient="horz" pos="1200"/>
        <p:guide pos="2352"/>
        <p:guide pos="39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1.xml"/><Relationship Id="rId8" Type="http://schemas.openxmlformats.org/officeDocument/2006/relationships/handoutMaster" Target="handoutMasters/handoutMaster1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2.xml"/><Relationship Id="rId12" Type="http://schemas.openxmlformats.org/officeDocument/2006/relationships/tableStyles" Target="tableStyles.xml"/><Relationship Id="rId13" Type="http://schemas.microsoft.com/office/2018/10/relationships/authors" Target="authors.xml"/><Relationship Id="rId14" Type="http://schemas.openxmlformats.org/officeDocument/2006/relationships/customXml" Target="../customXml/item13.xml"/><Relationship Id="rId15" Type="http://schemas.openxmlformats.org/officeDocument/2006/relationships/customXml" Target="../customXml/item22.xml"/><Relationship Id="rId16" Type="http://schemas.openxmlformats.org/officeDocument/2006/relationships/customXml" Target="../customXml/item3.xml"/></Relationships>
</file>

<file path=ppt/handoutMasters/_rels/handout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31.xml"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D0CCEB-DFF8-417B-A87A-90F3D79059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FE758-9C44-40AF-9D52-A7EF39200D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ADB54-F1AF-44F8-8ED0-867524639FE1}" type="datetimeFigureOut">
              <a:rPr lang="en-US" smtClean="0"/>
              <a:t>4/13/2023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24329-C497-4EFE-8EB2-F22CD57F39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C25EC-D008-42CF-845E-C895CC9B32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2E2A0-273F-4DCF-AF0B-3CFADE889C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20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E5575-CAFE-4A42-A774-E4652BA723C1}" type="datetimeFigureOut">
              <a:rPr lang="en-US" smtClean="0"/>
              <a:t>4/12/2023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DC9BE-8102-4ADA-9C69-422E236104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94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EA1F5-0E0B-B85B-D1EB-BEBCBED6E5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9933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927EF45-A807-DB68-1EE5-2260524171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9933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A415738-ECED-ED41-CA59-8E7C19FEC1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66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99194BA-C71C-FB82-7058-42ECFE165A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23533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C9BA2BC-110F-DB84-10C1-221D101343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23533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EE7A2705-D148-A99C-16ED-444258463C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37742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9B7D98-8661-78D4-B906-E82F8AA1DB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66287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2B64643-487D-62DA-ED87-8BFFC06F47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6287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68C7255-63FE-E78E-F2B6-8C33F2646E5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62918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3EA25A-8DAD-D356-C0BA-9C67D9A427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9247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BB83F7C-5495-8D46-6D74-3F64F3846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59247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3AEB463-3922-C6AB-FFB8-2EE779519A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88094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926F0D6-3D6F-CF88-7E9C-73E88C5C4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7927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285DCD4-48AB-6937-6F44-D27E776530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97927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CD2BFCC-FEE2-31DA-0E90-6DCCB69F62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13268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091A83-55C5-27FA-B0EE-E6E2092FE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764" y="1306286"/>
            <a:ext cx="10634472" cy="39136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CE5B613-CC47-7166-1079-72D34B53B9C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9010" y="5697791"/>
            <a:ext cx="2953893" cy="221227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1300" b="1" cap="all" baseline="0">
                <a:latin typeface="+mj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6DA3FD6-1913-5628-D35E-F45A79957F4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9010" y="5919018"/>
            <a:ext cx="2953893" cy="55060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B334E18-390E-B481-4560-DAEAEF9D71C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4327" y="5697791"/>
            <a:ext cx="3828963" cy="21139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1300" b="1" cap="all" baseline="0">
                <a:latin typeface="+mj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BB770A94-1A8E-909F-55E5-9098532EFF1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4327" y="5919018"/>
            <a:ext cx="3828963" cy="55060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092BB43-4E44-1C9D-48F2-608DECE301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56284" y="5697791"/>
            <a:ext cx="2890149" cy="21139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1300" b="1" cap="all" baseline="0">
                <a:latin typeface="+mj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05A4B16-00D8-58AA-3C2E-8351922FC6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56284" y="5919018"/>
            <a:ext cx="2890149" cy="55060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B0EFD2-0C64-7216-257E-E1D8C1EDE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5779" y="5477927"/>
            <a:ext cx="3201070" cy="11456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95D4D0-921D-C50F-870D-54595D65E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50201" y="5477927"/>
            <a:ext cx="3163768" cy="11456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A7F94B-4FAB-8BB3-3ED5-D4AF2AC98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76849" y="5477927"/>
            <a:ext cx="4274022" cy="11456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EC10B0-6B06-05CE-D736-6768A3FB1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10984" y="1314263"/>
            <a:ext cx="0" cy="391172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635BDF-F930-06EB-FDF1-D75067AAD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4086" y="1310948"/>
            <a:ext cx="6257" cy="391581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96A1C0-3AF0-2C45-21BC-04215DB86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74841" y="1318344"/>
            <a:ext cx="0" cy="390764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C2BD56-DD5B-ABC2-F434-B4AA1E69E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34926" y="1319323"/>
            <a:ext cx="0" cy="390666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1CC89FC-4DAE-5807-C0D4-AE935BA2E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8137" y="5063852"/>
            <a:ext cx="3182112" cy="1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5562B5-D7F8-149B-9F5D-2BF3C3818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9322" y="5063638"/>
            <a:ext cx="4271158" cy="150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D8BB4C-02F1-CBAA-42A4-A5A3CDD58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5779" y="5067939"/>
            <a:ext cx="3201074" cy="1580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EA1F5-0E0B-B85B-D1EB-BEBCBED6E5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539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99194BA-C71C-FB82-7058-42ECFE165A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4081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9B7D98-8661-78D4-B906-E82F8AA1DB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5651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3EA25A-8DAD-D356-C0BA-9C67D9A427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09951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D26AB3E-B10A-4C70-D3AD-491E455811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5539" y="2401271"/>
            <a:ext cx="1048318" cy="715161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14A0669-8D5C-FC6E-1C98-46776596B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4081" y="2401271"/>
            <a:ext cx="1107754" cy="71516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60901E3-1C61-B8DC-535F-C5F1CBAA39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95651" y="2401271"/>
            <a:ext cx="1048318" cy="715161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8ED9BB0-9FB4-8303-16A4-5995D3680D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09951" y="2401271"/>
            <a:ext cx="1312477" cy="715161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BB687EAD-FB4B-FA9F-E7A8-E8E8CCD5F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71824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533FEA29-0F2F-A12B-53EB-953304BB2E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90366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DAA64BE-E8B1-B220-EE5C-550C3D4A0C6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01936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333D203-FBA0-4BF8-BF83-4CC6D427C2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16236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72E1DD50-E0B1-C7F5-F912-B0A3F698EA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71824" y="3649648"/>
            <a:ext cx="1048318" cy="76439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1EC45EE4-79A0-FE4F-9CC8-47B296FEA5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90366" y="3649648"/>
            <a:ext cx="1107754" cy="76439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2F23D15D-8DCF-EFA9-F68B-1C99F5B7232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01936" y="3649648"/>
            <a:ext cx="1048318" cy="76439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F9AF8195-5929-2D30-026A-6E7FE3FAAC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16236" y="3649648"/>
            <a:ext cx="1147912" cy="76439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126906-4BEC-F0D8-22BD-C6C108D18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1845" y="5058410"/>
            <a:ext cx="2622711" cy="7643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927EF45-A807-DB68-1EE5-2260524171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07642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0CF95-AB40-7CFB-D346-0A33C3A61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14556" y="5058410"/>
            <a:ext cx="2624328" cy="7643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C9BA2BC-110F-DB84-10C1-221D101343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6043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368B47-D4FA-1A66-35F1-370E15D01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28880" y="5058410"/>
            <a:ext cx="2624328" cy="7643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2B64643-487D-62DA-ED87-8BFFC06F47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2672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DFE37F-30BF-A89F-B95A-83D7A6BC8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50706" y="5058410"/>
            <a:ext cx="2624328" cy="7643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BB83F7C-5495-8D46-6D74-3F64F3846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073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BCB24E-B29D-4CAD-6002-ADBEE7B51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6117" y="2160084"/>
            <a:ext cx="0" cy="292608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53638E-B4F4-BC5B-4F7B-2632A642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4556" y="2160084"/>
            <a:ext cx="0" cy="292608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D2369F-A70B-DD0A-2CBB-ED8F8D206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28880" y="2160084"/>
            <a:ext cx="0" cy="292608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B2B62D-1C66-8947-ADE4-D3372719D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48206" y="2160084"/>
            <a:ext cx="0" cy="29260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C2EA01-3CC8-9317-AD83-25CAF4172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24219" y="3385635"/>
            <a:ext cx="0" cy="173736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3C9A28-AA60-F592-9922-37514253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04893" y="3385635"/>
            <a:ext cx="0" cy="17373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E6E67FC-CD5C-378F-5A1D-2FEA254C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43545" y="3385635"/>
            <a:ext cx="0" cy="173736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EFC0F0-A911-503E-F2D1-80A2C2732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962873" y="3385635"/>
            <a:ext cx="0" cy="173736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9F6437-9EF2-9F8E-DAB0-99F3F9809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5896340" y="2160084"/>
            <a:ext cx="265079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8BFBCA3-D3BE-0434-DC7B-4E1D3334D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208504" y="3381429"/>
            <a:ext cx="265079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253FDA-FEA9-EA91-CB3A-429D559AE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515666" y="2160084"/>
            <a:ext cx="26507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0967671-6CAD-416D-3A6F-0418B751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282016" y="2160084"/>
            <a:ext cx="265079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44CF2C2-869D-7484-D18B-922E3312F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70191" y="2160084"/>
            <a:ext cx="265079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2A6F0CA-0A69-92A7-71D7-54DD8B24E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91679" y="3381429"/>
            <a:ext cx="265079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1E03DD-A47B-70BE-0259-6976F5F28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970660" y="3381429"/>
            <a:ext cx="265079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065CBF5-8D14-2F85-AF20-B4EE23B18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9830330" y="3381429"/>
            <a:ext cx="26507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57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9906B8-0130-4CE3-A402-AD14F694B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764" y="1336981"/>
            <a:ext cx="10634472" cy="50752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EA1F5-0E0B-B85B-D1EB-BEBCBED6E5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1222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927EF45-A807-DB68-1EE5-2260524171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1222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0FD1A64-5429-B203-D1FD-902607CD1A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2566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2EC95D5-1A0A-6660-B6C6-30CA65A3938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502911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99194BA-C71C-FB82-7058-42ECFE165A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34822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C9BA2BC-110F-DB84-10C1-221D101343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34822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D9324C6-8649-EB3C-8916-E1EA3B8915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37742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FF90473A-C83D-5DEA-ED9A-7152AD2E5AF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639654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9B7D98-8661-78D4-B906-E82F8AA1DB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66287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2B64643-487D-62DA-ED87-8BFFC06F47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6287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179D1CF-4097-FC8C-51C1-CE6ECEE017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62918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022FCC6D-3088-C2FB-FC8F-E636A7F53A1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48335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3EA25A-8DAD-D356-C0BA-9C67D9A427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9247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BB83F7C-5495-8D46-6D74-3F64F3846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59247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806C076-7B20-8C54-8D7C-15B7E32E8B6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88094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3F3E8A8F-E827-C446-AF20-B093FE64571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732677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926F0D6-3D6F-CF88-7E9C-73E88C5C4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2068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285DCD4-48AB-6937-6F44-D27E776530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92068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550EAA6-FAF3-B60B-E55B-E2D09B5B32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13268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31" name="Picture Placeholder 5">
            <a:extLst>
              <a:ext uri="{FF2B5EF4-FFF2-40B4-BE49-F238E27FC236}">
                <a16:creationId xmlns:a16="http://schemas.microsoft.com/office/drawing/2014/main" id="{BF1B1D02-C803-3AEC-B070-F54F61C0ED5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986020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030AAA-2CDD-F298-9062-1132B6819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20510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D0763-9E6E-FF42-0267-56F3338C0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63612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6EBB92-E236-06E9-FC5C-300CD3E98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84367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9919DC-1013-927F-4E81-1EBFB7517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44452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2CFA93D-825C-5D1C-6391-7C5F1C82D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769620" y="5399391"/>
            <a:ext cx="1064361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496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rtAr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88D67B3A-7763-7946-C85A-D14F3AC99EF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800100" y="1195388"/>
            <a:ext cx="10591800" cy="5083175"/>
          </a:xfrm>
          <a:ln w="1905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E0B3DD-01F4-FA08-2C93-4F4AC23298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64841" y="1729157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F56F623-4FDE-B4E0-5A66-17B29BEA10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86612" y="343988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94380A0-C940-A82F-E9C8-F63EF03D8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67511" y="5128843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049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lestones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FF060A-09C6-5B83-D598-922FBC00B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10291" y="3288744"/>
            <a:ext cx="40962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67118EA-0679-56DB-30AA-15366D841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31055" y="3288744"/>
            <a:ext cx="40962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7D4C26-298D-B369-3923-22B4E0751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36924" y="3288744"/>
            <a:ext cx="40962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24A62-C119-A675-F4F4-B43997BF7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7628" y="3288744"/>
            <a:ext cx="40962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3F9D051-5615-6520-C9FE-2194E5F476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4794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2D33364F-212C-47CD-61DB-B968966244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34794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1A2BC30-6C99-2F27-33C0-75369E2DB4B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3854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CC9A1613-1BBF-BD90-BEEE-BD897E9497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1846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304FCD1-A30E-46B1-D7C8-DE1BE7FFAE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1846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540769-785D-73F3-BFE4-6B3BD5E5073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7341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B3A9FF4-06B5-103D-E04A-59C091EC5A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8699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D86C2B1E-2069-E1E8-1D55-F06FEC4025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8699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8F6B4AA-751C-B5D8-6672-3774E22E349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50828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AE3F56D-0C35-24AD-243F-104C2FD0A1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42703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F7E2EDC6-8ADC-73F3-2B50-F76AAE96B3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42703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FB0834E-950B-9510-9239-74E1A443E8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64315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126906-4BEC-F0D8-22BD-C6C108D18F9A}"/>
              </a:ext>
            </a:extLst>
          </p:cNvPr>
          <p:cNvSpPr/>
          <p:nvPr userDrawn="1"/>
        </p:nvSpPr>
        <p:spPr>
          <a:xfrm>
            <a:off x="791845" y="5733324"/>
            <a:ext cx="2622711" cy="1558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0CF95-AB40-7CFB-D346-0A33C3A61D15}"/>
              </a:ext>
            </a:extLst>
          </p:cNvPr>
          <p:cNvSpPr/>
          <p:nvPr userDrawn="1"/>
        </p:nvSpPr>
        <p:spPr>
          <a:xfrm>
            <a:off x="3414556" y="5733324"/>
            <a:ext cx="2624328" cy="1558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368B47-D4FA-1A66-35F1-370E15D0131A}"/>
              </a:ext>
            </a:extLst>
          </p:cNvPr>
          <p:cNvSpPr/>
          <p:nvPr userDrawn="1"/>
        </p:nvSpPr>
        <p:spPr>
          <a:xfrm>
            <a:off x="6028880" y="5733324"/>
            <a:ext cx="2624328" cy="1558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DFE37F-30BF-A89F-B95A-83D7A6BC8643}"/>
              </a:ext>
            </a:extLst>
          </p:cNvPr>
          <p:cNvSpPr/>
          <p:nvPr userDrawn="1"/>
        </p:nvSpPr>
        <p:spPr>
          <a:xfrm>
            <a:off x="8650706" y="5733324"/>
            <a:ext cx="2624328" cy="15584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82BC64-B49A-DA09-3131-8F5EF49AB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20615" y="3300101"/>
            <a:ext cx="1550" cy="245348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B48953-E009-62AA-4880-086254339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35868" y="3288744"/>
            <a:ext cx="1550" cy="245348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C83577-42FC-383D-02D2-51AC91ADB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41737" y="3288744"/>
            <a:ext cx="1550" cy="2453489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FA8576-3F2E-23B4-2B15-01C4378C1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7872" y="3288744"/>
            <a:ext cx="1550" cy="2453489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4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74091-9EA2-47C8-AAA9-6DFE207852E4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80354" y="1786436"/>
            <a:ext cx="10711545" cy="45229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295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4.xml"/><Relationship Id="rId7" Type="http://schemas.openxmlformats.org/officeDocument/2006/relationships/theme" Target="../theme/theme12.xml"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4C4A8-C2EB-4D2A-A43E-BE19EA9A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742BD-2E9C-46B7-AFF7-A440C094D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3F001-24C4-4191-A568-B1096B9AB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9F280-24DB-415F-8DF8-72D7FF3C4BF0}" type="datetimeFigureOut">
              <a:rPr lang="en-US" noProof="0" smtClean="0"/>
              <a:t>4/12/2023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E5E6E-ED1A-4700-A7E8-68DEBCDD6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E6C46-B63C-4A83-8155-0AE7FABAD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A9A2B-DCEA-459B-8067-44D042050D8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0101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71" r:id="rId4"/>
    <p:sldLayoutId id="2147483669" r:id="rId5"/>
    <p:sldLayoutId id="214748366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AI PLATFORM — 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 Star Goal: Transform experimental Clawd Bot into a governed enterprise AI platform</a:t>
            </a:r>
          </a:p>
          <a:p>
            <a:r>
              <a:t>Developer Velocity: 30–40% reduction in lead time</a:t>
            </a:r>
          </a:p>
          <a:p>
            <a:r>
              <a:t>Security Compliance: 95% auto-detection of PII; MTTR &lt; 1h</a:t>
            </a:r>
          </a:p>
          <a:p>
            <a:r>
              <a:t>Operational Governance: 100% of AI spend traceable by cost center</a:t>
            </a:r>
          </a:p>
          <a:p>
            <a:r>
              <a:t>Adoption Rate: 80% active users among 500+ engineers by March</a:t>
            </a:r>
          </a:p>
          <a:p>
            <a:r>
              <a:t>Data Quality: &lt;5% hallucination report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ROLLOUT TIMELINE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PHASE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Stakeholder discovery &amp; problem framing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PHASE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Requirements analysis &amp; feature design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PHASE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Platform build with RBAC &amp; PII scrubbing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PHASE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Pilot rollout to 50 engineers, gather feedback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PHASE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Full-scale deployment to all 500+ engineers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VELOCITY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30–40% lead time reduction measured via CI/CD pipeline metrics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95% PII auto-detection with &lt;1h mean time to remediate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GOVERNANCE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100% spend traceability via per-user/team token quotas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 — DETAILED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Velocity</a:t>
            </a:r>
          </a:p>
          <a:p>
            <a:pPr lvl="1"/>
            <a:r>
              <a:t>30–40% reduction in lead time — measures actual productivity boost promised by CTO</a:t>
            </a:r>
          </a:p>
          <a:p>
            <a:r>
              <a:t>Security Compliance</a:t>
            </a:r>
          </a:p>
          <a:p>
            <a:pPr lvl="1"/>
            <a:r>
              <a:t>95% auto-detection of PII; MTTR &lt; 1h — measures risk reduction and response speed</a:t>
            </a:r>
          </a:p>
          <a:p>
            <a:r>
              <a:t>Operational Governance</a:t>
            </a:r>
          </a:p>
          <a:p>
            <a:pPr lvl="1"/>
            <a:r>
              <a:t>100% of spend traceable — eliminates the $4,000 unmonitored bill problem</a:t>
            </a:r>
          </a:p>
          <a:p>
            <a:r>
              <a:t>Adoption Rate</a:t>
            </a:r>
          </a:p>
          <a:p>
            <a:pPr lvl="1"/>
            <a:r>
              <a:t>80% active users by March — measures tool utility across 500+ engineers</a:t>
            </a:r>
          </a:p>
          <a:p>
            <a:r>
              <a:t>Data Quality</a:t>
            </a:r>
          </a:p>
          <a:p>
            <a:pPr lvl="1"/>
            <a:r>
              <a:t>&lt;5% hallucination report rate — measures AI understanding of internal knowledge 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MILESTONES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Quarterly survey: How much time is AI saving you daily?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Q1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Audit log scan: automated weekly PII filter bypass checks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Q2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26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Billing dashboard: real-time token spend by cost center tags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Q3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26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Full adoption review: 80% active users target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ALIGNMENT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Mike Rodriguez (CTO)</a:t>
            </a:r>
          </a:p>
          <a:p>
            <a:pPr lvl="1"/>
            <a:r>
              <a:t>Speed &amp; ROI — tracked via Developer Velocity metric</a:t>
            </a:r>
          </a:p>
          <a:p>
            <a:r>
              <a:t>Alex Chen (CISO)</a:t>
            </a:r>
          </a:p>
          <a:p>
            <a:pPr lvl="1"/>
            <a:r>
              <a:t>Security &amp; Control — tracked via Compliance &amp; Governance metrics</a:t>
            </a:r>
          </a:p>
          <a:p>
            <a:r>
              <a:t>Samy (Platform Lead)</a:t>
            </a:r>
          </a:p>
          <a:p>
            <a:pPr lvl="1"/>
            <a:r>
              <a:t>Stability &amp; Containerization — tracked via Adoption Rate</a:t>
            </a:r>
          </a:p>
          <a:p>
            <a:r>
              <a:t>Jenny (Frontend Lead)</a:t>
            </a:r>
          </a:p>
          <a:p>
            <a:pPr lvl="1"/>
            <a:r>
              <a:t>Usability &amp; UX — tracked via Data Quality &amp; Adoption Rate</a:t>
            </a:r>
          </a:p>
        </p:txBody>
      </p:sp>
    </p:spTree>
  </p:cSld>
  <p:clrMapOvr>
    <a:masterClrMapping/>
  </p:clrMapOvr>
</p:sld>
</file>

<file path=ppt/theme/theme12.xml><?xml version="1.0" encoding="utf-8"?>
<a:theme xmlns:a="http://schemas.openxmlformats.org/drawingml/2006/main" name="Office Theme">
  <a:themeElements>
    <a:clrScheme name="Custom 95">
      <a:dk1>
        <a:srgbClr val="000000"/>
      </a:dk1>
      <a:lt1>
        <a:srgbClr val="FFFFFF"/>
      </a:lt1>
      <a:dk2>
        <a:srgbClr val="93D24F"/>
      </a:dk2>
      <a:lt2>
        <a:srgbClr val="E7E6E6"/>
      </a:lt2>
      <a:accent1>
        <a:srgbClr val="5AB0F1"/>
      </a:accent1>
      <a:accent2>
        <a:srgbClr val="EFB233"/>
      </a:accent2>
      <a:accent3>
        <a:srgbClr val="0CC6D3"/>
      </a:accent3>
      <a:accent4>
        <a:srgbClr val="D9A0DF"/>
      </a:accent4>
      <a:accent5>
        <a:srgbClr val="FF3FFF"/>
      </a:accent5>
      <a:accent6>
        <a:srgbClr val="BAE6F4"/>
      </a:accent6>
      <a:hlink>
        <a:srgbClr val="BAE6F4"/>
      </a:hlink>
      <a:folHlink>
        <a:srgbClr val="EFB233"/>
      </a:folHlink>
    </a:clrScheme>
    <a:fontScheme name="Custom 38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420931_win32_SL_v8b" id="{962BA849-7D3A-447C-8E0C-C6B8A54EB752}" vid="{8239B2B3-BE63-49D7-8C43-6D1FACD8CE7E}"/>
    </a:ext>
  </a:extLst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1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3.xml><?xml version="1.0" encoding="utf-8"?>
<ds:datastoreItem xmlns:ds="http://schemas.openxmlformats.org/officeDocument/2006/customXml" ds:itemID="{3205B5B5-E4F2-4B40-87E8-CEE324BBE578}"/>
</file>

<file path=customXml/itemProps22.xml><?xml version="1.0" encoding="utf-8"?>
<ds:datastoreItem xmlns:ds="http://schemas.openxmlformats.org/officeDocument/2006/customXml" ds:itemID="{EAB0ECE3-6C1E-441C-9C97-D56A5589398E}"/>
</file>

<file path=customXml/itemProps31.xml><?xml version="1.0" encoding="utf-8"?>
<ds:datastoreItem xmlns:ds="http://schemas.openxmlformats.org/officeDocument/2006/customXml" ds:itemID="{AFE6B9FF-7AAE-46D6-8FB9-31527442A887}"/>
</file>

<file path=docMetadata/LabelInfo.xml><?xml version="1.0" encoding="utf-8"?>
<clbl:labelList xmlns:clbl="http://schemas.microsoft.com/office/2020/mipLabelMetadata"/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0</ap:TotalTime>
  <ap:Words>220</ap:Words>
  <ap:Application>Microsoft Office PowerPoint</ap:Application>
  <ap:PresentationFormat>Widescreen</ap:PresentationFormat>
  <ap:Paragraphs>79</ap:Paragraphs>
  <ap:Slides>5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ap:HeadingPairs>
  <ap:TitlesOfParts>
    <vt:vector baseType="lpstr" size="9">
      <vt:lpstr>Arial</vt:lpstr>
      <vt:lpstr>Calibri</vt:lpstr>
      <vt:lpstr>Century Gothic</vt:lpstr>
      <vt:lpstr>Office Theme</vt:lpstr>
      <vt:lpstr>PROJECT TIMELINE 1</vt:lpstr>
      <vt:lpstr>PROJECT TIMELINE 2</vt:lpstr>
      <vt:lpstr>PROJECT TIMELINE 3</vt:lpstr>
      <vt:lpstr>PROJECT OUTLINE</vt:lpstr>
      <vt:lpstr>PROJECT MILESTONES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2023-03-31T17:52:35Z</dcterms:created>
  <dcterms:modified xsi:type="dcterms:W3CDTF">2023-04-13T06:50:43Z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